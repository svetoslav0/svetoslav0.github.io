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46888" y="615604"/>
            <a:ext cx="11704320" cy="543837"/>
          </a:xfrm>
          <a:custGeom>
            <a:avLst/>
            <a:gdLst/>
            <a:ahLst/>
            <a:cxnLst/>
            <a:rect l="l" t="t" r="r" b="b"/>
            <a:pathLst>
              <a:path w="990" h="46">
                <a:moveTo>
                  <a:pt x="0" y="30"/>
                </a:moveTo>
                <a:lnTo>
                  <a:pt x="28" y="30"/>
                </a:lnTo>
                <a:lnTo>
                  <a:pt x="34" y="22"/>
                </a:lnTo>
                <a:lnTo>
                  <a:pt x="40" y="30"/>
                </a:lnTo>
                <a:lnTo>
                  <a:pt x="60" y="30"/>
                </a:lnTo>
                <a:lnTo>
                  <a:pt x="68" y="42"/>
                </a:lnTo>
                <a:lnTo>
                  <a:pt x="76" y="0"/>
                </a:lnTo>
                <a:lnTo>
                  <a:pt x="84" y="46"/>
                </a:lnTo>
                <a:lnTo>
                  <a:pt x="90" y="30"/>
                </a:lnTo>
                <a:lnTo>
                  <a:pt x="120" y="30"/>
                </a:lnTo>
                <a:lnTo>
                  <a:pt x="125" y="24"/>
                </a:lnTo>
                <a:lnTo>
                  <a:pt x="130" y="30"/>
                </a:lnTo>
                <a:lnTo>
                  <a:pt x="165" y="30"/>
                </a:lnTo>
                <a:lnTo>
                  <a:pt x="193" y="30"/>
                </a:lnTo>
                <a:lnTo>
                  <a:pt x="199" y="22"/>
                </a:lnTo>
                <a:lnTo>
                  <a:pt x="205" y="30"/>
                </a:lnTo>
                <a:lnTo>
                  <a:pt x="225" y="30"/>
                </a:lnTo>
                <a:lnTo>
                  <a:pt x="233" y="42"/>
                </a:lnTo>
                <a:lnTo>
                  <a:pt x="241" y="0"/>
                </a:lnTo>
                <a:lnTo>
                  <a:pt x="249" y="46"/>
                </a:lnTo>
                <a:lnTo>
                  <a:pt x="255" y="30"/>
                </a:lnTo>
                <a:lnTo>
                  <a:pt x="285" y="30"/>
                </a:lnTo>
                <a:lnTo>
                  <a:pt x="290" y="24"/>
                </a:lnTo>
                <a:lnTo>
                  <a:pt x="295" y="30"/>
                </a:lnTo>
                <a:lnTo>
                  <a:pt x="330" y="30"/>
                </a:lnTo>
                <a:lnTo>
                  <a:pt x="358" y="30"/>
                </a:lnTo>
                <a:lnTo>
                  <a:pt x="364" y="22"/>
                </a:lnTo>
                <a:lnTo>
                  <a:pt x="370" y="30"/>
                </a:lnTo>
                <a:lnTo>
                  <a:pt x="390" y="30"/>
                </a:lnTo>
                <a:lnTo>
                  <a:pt x="398" y="42"/>
                </a:lnTo>
                <a:lnTo>
                  <a:pt x="406" y="0"/>
                </a:lnTo>
                <a:lnTo>
                  <a:pt x="414" y="46"/>
                </a:lnTo>
                <a:lnTo>
                  <a:pt x="420" y="30"/>
                </a:lnTo>
                <a:lnTo>
                  <a:pt x="450" y="30"/>
                </a:lnTo>
                <a:lnTo>
                  <a:pt x="455" y="24"/>
                </a:lnTo>
                <a:lnTo>
                  <a:pt x="460" y="30"/>
                </a:lnTo>
                <a:lnTo>
                  <a:pt x="495" y="30"/>
                </a:lnTo>
                <a:lnTo>
                  <a:pt x="523" y="30"/>
                </a:lnTo>
                <a:lnTo>
                  <a:pt x="529" y="22"/>
                </a:lnTo>
                <a:lnTo>
                  <a:pt x="535" y="30"/>
                </a:lnTo>
                <a:lnTo>
                  <a:pt x="555" y="30"/>
                </a:lnTo>
                <a:lnTo>
                  <a:pt x="563" y="42"/>
                </a:lnTo>
                <a:lnTo>
                  <a:pt x="571" y="0"/>
                </a:lnTo>
                <a:lnTo>
                  <a:pt x="579" y="46"/>
                </a:lnTo>
                <a:lnTo>
                  <a:pt x="585" y="30"/>
                </a:lnTo>
                <a:lnTo>
                  <a:pt x="615" y="30"/>
                </a:lnTo>
                <a:lnTo>
                  <a:pt x="620" y="24"/>
                </a:lnTo>
                <a:lnTo>
                  <a:pt x="625" y="30"/>
                </a:lnTo>
                <a:lnTo>
                  <a:pt x="660" y="30"/>
                </a:lnTo>
                <a:lnTo>
                  <a:pt x="688" y="30"/>
                </a:lnTo>
                <a:lnTo>
                  <a:pt x="694" y="22"/>
                </a:lnTo>
                <a:lnTo>
                  <a:pt x="700" y="30"/>
                </a:lnTo>
                <a:lnTo>
                  <a:pt x="720" y="30"/>
                </a:lnTo>
                <a:lnTo>
                  <a:pt x="728" y="42"/>
                </a:lnTo>
                <a:lnTo>
                  <a:pt x="736" y="0"/>
                </a:lnTo>
                <a:lnTo>
                  <a:pt x="744" y="46"/>
                </a:lnTo>
                <a:lnTo>
                  <a:pt x="750" y="30"/>
                </a:lnTo>
                <a:lnTo>
                  <a:pt x="780" y="30"/>
                </a:lnTo>
                <a:lnTo>
                  <a:pt x="785" y="24"/>
                </a:lnTo>
                <a:lnTo>
                  <a:pt x="790" y="30"/>
                </a:lnTo>
                <a:lnTo>
                  <a:pt x="825" y="30"/>
                </a:lnTo>
                <a:lnTo>
                  <a:pt x="853" y="30"/>
                </a:lnTo>
                <a:lnTo>
                  <a:pt x="859" y="22"/>
                </a:lnTo>
                <a:lnTo>
                  <a:pt x="865" y="30"/>
                </a:lnTo>
                <a:lnTo>
                  <a:pt x="885" y="30"/>
                </a:lnTo>
                <a:lnTo>
                  <a:pt x="893" y="42"/>
                </a:lnTo>
                <a:lnTo>
                  <a:pt x="901" y="0"/>
                </a:lnTo>
                <a:lnTo>
                  <a:pt x="909" y="46"/>
                </a:lnTo>
                <a:lnTo>
                  <a:pt x="915" y="30"/>
                </a:lnTo>
                <a:lnTo>
                  <a:pt x="945" y="30"/>
                </a:lnTo>
                <a:lnTo>
                  <a:pt x="950" y="24"/>
                </a:lnTo>
                <a:lnTo>
                  <a:pt x="955" y="30"/>
                </a:lnTo>
                <a:lnTo>
                  <a:pt x="990" y="30"/>
                </a:lnTo>
              </a:path>
            </a:pathLst>
          </a:custGeom>
          <a:noFill/>
          <a:ln w="3048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 spc="220">
                <a:solidFill>
                  <a:srgbClr val="2EC4B6"/>
                </a:solidFill>
                <a:latin typeface="Segoe UI"/>
              </a:rPr>
              <a:t>СОФИЙСКИ УНИВЕРСИТЕТ „СВ. КЛИМЕНТ ОХРИДСКИ“   ·   ФАКУЛТЕТ ПО МАТЕМАТИКА И ИНФОРМАТИКА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 spc="400">
                <a:solidFill>
                  <a:srgbClr val="CAD3D4"/>
                </a:solidFill>
                <a:latin typeface="Segoe UI"/>
              </a:rPr>
              <a:t>ДИПЛОМНА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Проектиране и софтуерна архитектура на болнична информационна система с висока достъпност и оперативна съвместимост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2EC4B6"/>
                </a:solidFill>
                <a:latin typeface="Segoe UI"/>
              </a:rPr>
              <a:t>Проектиране   ·   Реализация   ·   Пилотно изпитване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074920"/>
            <a:ext cx="10725912" cy="0"/>
          </a:xfrm>
          <a:prstGeom prst="line">
            <a:avLst/>
          </a:prstGeom>
          <a:ln w="12700">
            <a:solidFill>
              <a:srgbClr val="43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3492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CAD3D4"/>
                </a:solidFill>
                <a:latin typeface="Segoe UI"/>
              </a:rPr>
              <a:t>Изготвил: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Светослав Миленов Неделчев</a:t>
            </a:r>
            <a:r>
              <a:rPr sz="1250" b="0" i="0">
                <a:solidFill>
                  <a:srgbClr val="CAD3D4"/>
                </a:solidFill>
                <a:latin typeface="Segoe UI"/>
              </a:rPr>
              <a:t>   ·   Магистърска програма „Био- и медицинска информатика“</a:t>
            </a:r>
          </a:p>
          <a:p>
            <a:pPr>
              <a:spcBef>
                <a:spcPts val="800"/>
              </a:spcBef>
            </a:pPr>
            <a:r>
              <a:rPr sz="1250" b="0" i="0">
                <a:solidFill>
                  <a:srgbClr val="CAD3D4"/>
                </a:solidFill>
                <a:latin typeface="Segoe UI"/>
              </a:rPr>
              <a:t>Научен ръководител: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гл. ас. д-р Ирена Авджиева</a:t>
            </a:r>
            <a:r>
              <a:rPr sz="1250" b="0" i="0">
                <a:solidFill>
                  <a:srgbClr val="CAD3D4"/>
                </a:solidFill>
                <a:latin typeface="Segoe UI"/>
              </a:rPr>
              <a:t>   ·   София,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0D3B66"/>
                </a:solidFill>
                <a:latin typeface="Segoe UI"/>
              </a:rPr>
              <a:t>Проблемът: фрагментирана и недостатъчно дигитализирана здравна информация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41248"/>
            <a:ext cx="11247120" cy="330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051560"/>
            <a:ext cx="6515100" cy="47548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051560"/>
            <a:ext cx="50800" cy="47548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62407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0D3B66"/>
                </a:solidFill>
                <a:latin typeface="Segoe UI"/>
              </a:rPr>
              <a:t>Как протича профилактичният преглед днес — изцяло на хартия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039112"/>
            <a:ext cx="384048" cy="384048"/>
          </a:xfrm>
          <a:prstGeom prst="ellipse">
            <a:avLst/>
          </a:prstGeom>
          <a:solidFill>
            <a:srgbClr val="1A7F8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4884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0D3B66"/>
                </a:solidFill>
                <a:latin typeface="Segoe UI"/>
              </a:rPr>
              <a:t>Пристигане в медицинския център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14884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039112"/>
            <a:ext cx="384048" cy="384048"/>
          </a:xfrm>
          <a:prstGeom prst="ellipse">
            <a:avLst/>
          </a:prstGeom>
          <a:solidFill>
            <a:srgbClr val="1A7F8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14884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0D3B66"/>
                </a:solidFill>
                <a:latin typeface="Segoe UI"/>
              </a:rPr>
              <a:t>Регистрация и хартиена медицинска карта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14884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0" y="2039112"/>
            <a:ext cx="384048" cy="384048"/>
          </a:xfrm>
          <a:prstGeom prst="ellipse">
            <a:avLst/>
          </a:prstGeom>
          <a:solidFill>
            <a:srgbClr val="1A7F8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14884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0D3B66"/>
                </a:solidFill>
                <a:latin typeface="Segoe UI"/>
              </a:rPr>
              <a:t>Обикаляне от кабинет на кабинет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86200" y="2638044"/>
            <a:ext cx="365760" cy="256032"/>
          </a:xfrm>
          <a:prstGeom prst="rightArrow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635240" y="2638044"/>
            <a:ext cx="365760" cy="256032"/>
          </a:xfrm>
          <a:prstGeom prst="rightArrow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9560052" y="3547872"/>
            <a:ext cx="256032" cy="457200"/>
          </a:xfrm>
          <a:prstGeom prst="downArrow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65008" y="434340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0" y="4233672"/>
            <a:ext cx="384048" cy="384048"/>
          </a:xfrm>
          <a:prstGeom prst="ellipse">
            <a:avLst/>
          </a:prstGeom>
          <a:solidFill>
            <a:srgbClr val="1A7F8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434340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0D3B66"/>
                </a:solidFill>
                <a:latin typeface="Segoe UI"/>
              </a:rPr>
              <a:t>Ръчно вписване на прегледи и изследвания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34340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4233672"/>
            <a:ext cx="384048" cy="384048"/>
          </a:xfrm>
          <a:prstGeom prst="ellipse">
            <a:avLst/>
          </a:prstGeom>
          <a:solidFill>
            <a:srgbClr val="1A7F8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34340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0D3B66"/>
                </a:solidFill>
                <a:latin typeface="Segoe UI"/>
              </a:rPr>
              <a:t>Ръчно нанасяне на резултати и изводи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4340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4233672"/>
            <a:ext cx="384048" cy="384048"/>
          </a:xfrm>
          <a:prstGeom prst="ellipse">
            <a:avLst/>
          </a:prstGeom>
          <a:solidFill>
            <a:srgbClr val="1A7F8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343400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0D3B66"/>
                </a:solidFill>
                <a:latin typeface="Segoe UI"/>
              </a:rPr>
              <a:t>Пациентът сам пази хартиената карта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7635240" y="4832604"/>
            <a:ext cx="365760" cy="256032"/>
          </a:xfrm>
          <a:prstGeom prst="leftArrow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 Arrow 28"/>
          <p:cNvSpPr/>
          <p:nvPr/>
        </p:nvSpPr>
        <p:spPr>
          <a:xfrm>
            <a:off x="3886200" y="4832604"/>
            <a:ext cx="365760" cy="256032"/>
          </a:xfrm>
          <a:prstGeom prst="leftArrow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0D3B66"/>
                </a:solidFill>
                <a:latin typeface="Segoe UI"/>
              </a:rPr>
              <a:t>Проблемът: фрагментирана и недостатъчно дигитализирана здравна информация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41248"/>
            <a:ext cx="11247120" cy="330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472184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17320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Хартиено съхранение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само на физически носител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313432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58568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Липса на дигитализация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отделни, несвързани записи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54680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099816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Преминаване между лекари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няма пълна актуална картина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95928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941064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Дублиране и забавяне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повторно попълване и изчакване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837176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782312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Риск за безопасността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грешки при преписване на данни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678424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623560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Слаба отчетност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трудно проследяване на промените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0D3B66"/>
                </a:solidFill>
                <a:latin typeface="Segoe UI"/>
              </a:rPr>
              <a:t>Как решаваме този проблем?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657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 i="0">
                <a:solidFill>
                  <a:srgbClr val="0D3B66"/>
                </a:solidFill>
                <a:latin typeface="Segoe UI"/>
              </a:rPr>
              <a:t>Как решаваме този проблем?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60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1A7F8E"/>
                </a:solidFill>
                <a:latin typeface="Segoe UI"/>
              </a:rPr>
              <a:t>Чрез дигитализация на здравния процес при профилактични годишни прегледи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37944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783080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Централизирано електронно досие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актуална картина на пациента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42616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587752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Достъп в реално време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данните са веднага налични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47288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392424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Без дублиране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еднократно въвеждане на информация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251960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197096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По-безопасно лечение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видими алергии и терапия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056632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001768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Проследимост и одит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ясно кой какво е променил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861304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806440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D3B66"/>
                </a:solidFill>
                <a:latin typeface="Segoe UI"/>
              </a:rPr>
              <a:t>По-бързо обслужване</a:t>
            </a:r>
            <a:r>
              <a:rPr sz="1500" b="0" i="0">
                <a:solidFill>
                  <a:srgbClr val="0D3B66"/>
                </a:solidFill>
                <a:latin typeface="Segoe UI"/>
              </a:rPr>
              <a:t> — по-малко административна работа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0D3B66"/>
                </a:solidFill>
                <a:latin typeface="Segoe UI"/>
              </a:rPr>
              <a:t>Технологични инструменти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41248"/>
            <a:ext cx="11247120" cy="330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1234440"/>
            <a:ext cx="2679192" cy="2423160"/>
          </a:xfrm>
          <a:prstGeom prst="roundRect">
            <a:avLst>
              <a:gd name="adj" fmla="val 10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2313432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.NET Core / ASP.NET Core</a:t>
            </a:r>
          </a:p>
          <a:p>
            <a:pPr algn="ctr">
              <a:spcBef>
                <a:spcPts val="800"/>
              </a:spcBef>
            </a:pPr>
            <a:r>
              <a:rPr sz="1150" b="0" i="0">
                <a:solidFill>
                  <a:srgbClr val="E9F2F4"/>
                </a:solidFill>
                <a:latin typeface="Segoe UI"/>
              </a:rPr>
              <a:t>Единен език (C#) за целия стек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8416" y="1234440"/>
            <a:ext cx="2679192" cy="2423160"/>
          </a:xfrm>
          <a:prstGeom prst="roundRect">
            <a:avLst>
              <a:gd name="adj" fmla="val 10000"/>
            </a:avLst>
          </a:prstGeom>
          <a:solidFill>
            <a:srgbClr val="1A4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11296" y="1234440"/>
            <a:ext cx="2313432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Blazor</a:t>
            </a:r>
          </a:p>
          <a:p>
            <a:pPr algn="ctr">
              <a:spcBef>
                <a:spcPts val="800"/>
              </a:spcBef>
            </a:pPr>
            <a:r>
              <a:rPr sz="1150" b="0" i="0">
                <a:solidFill>
                  <a:srgbClr val="E9F2F4"/>
                </a:solidFill>
                <a:latin typeface="Segoe UI"/>
              </a:rPr>
              <a:t>UI логика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34440"/>
            <a:ext cx="2679192" cy="2423160"/>
          </a:xfrm>
          <a:prstGeom prst="roundRect">
            <a:avLst>
              <a:gd name="adj" fmla="val 10000"/>
            </a:avLst>
          </a:prstGeom>
          <a:solidFill>
            <a:srgbClr val="14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234440"/>
            <a:ext cx="2313432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PostgreSQL</a:t>
            </a:r>
          </a:p>
          <a:p>
            <a:pPr algn="ctr">
              <a:spcBef>
                <a:spcPts val="800"/>
              </a:spcBef>
            </a:pPr>
            <a:r>
              <a:rPr sz="1150" b="0" i="0">
                <a:solidFill>
                  <a:srgbClr val="E9F2F4"/>
                </a:solidFill>
                <a:latin typeface="Segoe UI"/>
              </a:rPr>
              <a:t>Релационна база от данни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4272" y="1234440"/>
            <a:ext cx="2679192" cy="2423160"/>
          </a:xfrm>
          <a:prstGeom prst="roundRect">
            <a:avLst>
              <a:gd name="adj" fmla="val 10000"/>
            </a:avLst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52" y="1234440"/>
            <a:ext cx="2313432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Entity Framework Core</a:t>
            </a:r>
          </a:p>
          <a:p>
            <a:pPr algn="ctr">
              <a:spcBef>
                <a:spcPts val="800"/>
              </a:spcBef>
            </a:pPr>
            <a:r>
              <a:rPr sz="1150" b="0" i="0">
                <a:solidFill>
                  <a:srgbClr val="E9F2F4"/>
                </a:solidFill>
                <a:latin typeface="Segoe UI"/>
              </a:rPr>
              <a:t>ORM слой за достъп до данни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3831336"/>
            <a:ext cx="2679192" cy="2423160"/>
          </a:xfrm>
          <a:prstGeom prst="roundRect">
            <a:avLst>
              <a:gd name="adj" fmla="val 10000"/>
            </a:avLst>
          </a:prstGeom>
          <a:solidFill>
            <a:srgbClr val="2D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831336"/>
            <a:ext cx="2313432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ASP.NET Core Identity</a:t>
            </a:r>
          </a:p>
          <a:p>
            <a:pPr algn="ctr">
              <a:spcBef>
                <a:spcPts val="800"/>
              </a:spcBef>
            </a:pPr>
            <a:r>
              <a:rPr sz="1150" b="0" i="0">
                <a:solidFill>
                  <a:srgbClr val="E9F2F4"/>
                </a:solidFill>
                <a:latin typeface="Segoe UI"/>
              </a:rPr>
              <a:t>Аутентикация и оторизация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3831336"/>
            <a:ext cx="2679192" cy="2423160"/>
          </a:xfrm>
          <a:prstGeom prst="roundRect">
            <a:avLst>
              <a:gd name="adj" fmla="val 10000"/>
            </a:avLst>
          </a:prstGeom>
          <a:solidFill>
            <a:srgbClr val="1E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3831336"/>
            <a:ext cx="2313432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FHIR съвместимост</a:t>
            </a:r>
          </a:p>
          <a:p>
            <a:pPr algn="ctr">
              <a:spcBef>
                <a:spcPts val="800"/>
              </a:spcBef>
            </a:pPr>
            <a:r>
              <a:rPr sz="1150" b="0" i="0">
                <a:solidFill>
                  <a:srgbClr val="E9F2F4"/>
                </a:solidFill>
                <a:latin typeface="Segoe UI"/>
              </a:rPr>
              <a:t>Стандарт за обмен на здравни данни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831336"/>
            <a:ext cx="2679192" cy="2423160"/>
          </a:xfrm>
          <a:prstGeom prst="roundRect">
            <a:avLst>
              <a:gd name="adj" fmla="val 10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831336"/>
            <a:ext cx="2313432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QuestPDF</a:t>
            </a:r>
          </a:p>
          <a:p>
            <a:pPr algn="ctr">
              <a:spcBef>
                <a:spcPts val="800"/>
              </a:spcBef>
            </a:pPr>
            <a:r>
              <a:rPr sz="1150" b="0" i="0">
                <a:solidFill>
                  <a:srgbClr val="E9F2F4"/>
                </a:solidFill>
                <a:latin typeface="Segoe UI"/>
              </a:rPr>
              <a:t>Генериране на PDF документи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3831336"/>
            <a:ext cx="2679192" cy="2423160"/>
          </a:xfrm>
          <a:prstGeom prst="roundRect">
            <a:avLst>
              <a:gd name="adj" fmla="val 10000"/>
            </a:avLst>
          </a:prstGeom>
          <a:solidFill>
            <a:srgbClr val="0D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3831336"/>
            <a:ext cx="2313432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Docker</a:t>
            </a:r>
          </a:p>
          <a:p>
            <a:pPr algn="ctr">
              <a:spcBef>
                <a:spcPts val="800"/>
              </a:spcBef>
            </a:pPr>
            <a:r>
              <a:rPr sz="1150" b="0" i="0">
                <a:solidFill>
                  <a:srgbClr val="E9F2F4"/>
                </a:solidFill>
                <a:latin typeface="Segoe UI"/>
              </a:rPr>
              <a:t>Контейнеризация и преносимост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0D3B66"/>
                </a:solidFill>
                <a:latin typeface="Segoe UI"/>
              </a:rPr>
              <a:t>Едно ядро от данни - четири изолирани роли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41248"/>
            <a:ext cx="11247120" cy="330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09344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54480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D3B66"/>
                </a:solidFill>
                <a:latin typeface="Segoe UI"/>
              </a:rPr>
              <a:t>Централизиране релационна БД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60903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606039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D3B66"/>
                </a:solidFill>
                <a:latin typeface="Segoe UI"/>
              </a:rPr>
              <a:t>Ролеви контрол на достъпа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712463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657599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D3B66"/>
                </a:solidFill>
                <a:latin typeface="Segoe UI"/>
              </a:rPr>
              <a:t>Автономен одитен дневник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764023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709159"/>
            <a:ext cx="10533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 i="0">
                <a:solidFill>
                  <a:srgbClr val="0D3B66"/>
                </a:solidFill>
                <a:latin typeface="Segoe UI"/>
              </a:rPr>
              <a:t>Поверителност на данните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0D3B66"/>
                </a:solidFill>
                <a:latin typeface="Segoe UI"/>
              </a:rPr>
              <a:t>Едно ядро от данни - четири изолирани роли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41248"/>
            <a:ext cx="11247120" cy="330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09344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54480"/>
            <a:ext cx="3584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0D3B66"/>
                </a:solidFill>
                <a:latin typeface="Segoe UI"/>
              </a:rPr>
              <a:t>Централизиране релационна БД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60903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606039"/>
            <a:ext cx="3584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0D3B66"/>
                </a:solidFill>
                <a:latin typeface="Segoe UI"/>
              </a:rPr>
              <a:t>Ролеви контрол на достъпа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712463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657599"/>
            <a:ext cx="3584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0D3B66"/>
                </a:solidFill>
                <a:latin typeface="Segoe UI"/>
              </a:rPr>
              <a:t>Автономен одитен дневник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764023"/>
            <a:ext cx="182880" cy="182880"/>
          </a:xfrm>
          <a:prstGeom prst="ellipse">
            <a:avLst/>
          </a:prstGeom>
          <a:solidFill>
            <a:srgbClr val="1A7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709159"/>
            <a:ext cx="3584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0D3B66"/>
                </a:solidFill>
                <a:latin typeface="Segoe UI"/>
              </a:rPr>
              <a:t>Поверителност на данните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280160"/>
            <a:ext cx="3246120" cy="2377440"/>
          </a:xfrm>
          <a:prstGeom prst="roundRect">
            <a:avLst>
              <a:gd name="adj" fmla="val 9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40780" y="1554480"/>
            <a:ext cx="822960" cy="822960"/>
          </a:xfrm>
          <a:prstGeom prst="ellipse">
            <a:avLst/>
          </a:prstGeom>
          <a:solidFill>
            <a:srgbClr val="385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Администратор</a:t>
            </a:r>
          </a:p>
          <a:p>
            <a:pPr algn="ctr">
              <a:spcBef>
                <a:spcPts val="500"/>
              </a:spcBef>
            </a:pPr>
            <a:r>
              <a:rPr sz="1050" b="0" i="0">
                <a:solidFill>
                  <a:srgbClr val="E9F2F4"/>
                </a:solidFill>
                <a:latin typeface="Segoe UI"/>
              </a:rPr>
              <a:t>Одит, потребители и системни настройки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6488" y="1280160"/>
            <a:ext cx="3246120" cy="2377440"/>
          </a:xfrm>
          <a:prstGeom prst="roundRect">
            <a:avLst>
              <a:gd name="adj" fmla="val 9000"/>
            </a:avLst>
          </a:prstGeom>
          <a:solidFill>
            <a:srgbClr val="1A4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8068" y="1554480"/>
            <a:ext cx="822960" cy="822960"/>
          </a:xfrm>
          <a:prstGeom prst="ellipse">
            <a:avLst/>
          </a:prstGeom>
          <a:solidFill>
            <a:srgbClr val="436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514600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Мениджър</a:t>
            </a:r>
          </a:p>
          <a:p>
            <a:pPr algn="ctr">
              <a:spcBef>
                <a:spcPts val="500"/>
              </a:spcBef>
            </a:pPr>
            <a:r>
              <a:rPr sz="1050" b="0" i="0">
                <a:solidFill>
                  <a:srgbClr val="E9F2F4"/>
                </a:solidFill>
                <a:latin typeface="Segoe UI"/>
              </a:rPr>
              <a:t>Аналитика, справки и договори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858768"/>
            <a:ext cx="3246120" cy="2377440"/>
          </a:xfrm>
          <a:prstGeom prst="roundRect">
            <a:avLst>
              <a:gd name="adj" fmla="val 9000"/>
            </a:avLst>
          </a:prstGeom>
          <a:solidFill>
            <a:srgbClr val="14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40780" y="4133088"/>
            <a:ext cx="822960" cy="822960"/>
          </a:xfrm>
          <a:prstGeom prst="ellipse">
            <a:avLst/>
          </a:prstGeom>
          <a:solidFill>
            <a:srgbClr val="3E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093208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Лекар</a:t>
            </a:r>
          </a:p>
          <a:p>
            <a:pPr algn="ctr">
              <a:spcBef>
                <a:spcPts val="500"/>
              </a:spcBef>
            </a:pPr>
            <a:r>
              <a:rPr sz="1050" b="0" i="0">
                <a:solidFill>
                  <a:srgbClr val="E9F2F4"/>
                </a:solidFill>
                <a:latin typeface="Segoe UI"/>
              </a:rPr>
              <a:t>Клиничен списък и прегледи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6488" y="3858768"/>
            <a:ext cx="3246120" cy="2377440"/>
          </a:xfrm>
          <a:prstGeom prst="roundRect">
            <a:avLst>
              <a:gd name="adj" fmla="val 9000"/>
            </a:avLst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88068" y="4133088"/>
            <a:ext cx="822960" cy="822960"/>
          </a:xfrm>
          <a:prstGeom prst="ellipse">
            <a:avLst/>
          </a:prstGeom>
          <a:solidFill>
            <a:srgbClr val="3A79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8" y="5093208"/>
            <a:ext cx="2880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Рецепционист</a:t>
            </a:r>
          </a:p>
          <a:p>
            <a:pPr algn="ctr">
              <a:spcBef>
                <a:spcPts val="500"/>
              </a:spcBef>
            </a:pPr>
            <a:r>
              <a:rPr sz="1050" b="0" i="0">
                <a:solidFill>
                  <a:srgbClr val="E9F2F4"/>
                </a:solidFill>
                <a:latin typeface="Segoe UI"/>
              </a:rPr>
              <a:t>Регистрация и прием на пациенти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58968" y="1325880"/>
            <a:ext cx="1280160" cy="1280160"/>
          </a:xfrm>
          <a:prstGeom prst="ellipse">
            <a:avLst/>
          </a:prstGeom>
          <a:solidFill>
            <a:srgbClr val="12484C"/>
          </a:solidFill>
          <a:ln w="1778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5400000">
            <a:off x="5888736" y="1709928"/>
            <a:ext cx="457200" cy="502920"/>
          </a:xfrm>
          <a:prstGeom prst="triangl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 spc="400">
                <a:solidFill>
                  <a:srgbClr val="2EC4B6"/>
                </a:solidFill>
                <a:latin typeface="Segoe UI"/>
              </a:rPr>
              <a:t>ДЕМОНСТРАЦИЯ НА ЖИВО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Segoe UI"/>
              </a:rPr>
              <a:t>Време е за демо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CAD3D4"/>
                </a:solidFill>
                <a:latin typeface="Segoe UI"/>
              </a:rPr>
              <a:t>Разходка из системата — през погледа на всяка от ролите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0D3B66"/>
                </a:solidFill>
                <a:latin typeface="Segoe UI"/>
              </a:rPr>
              <a:t>Какво не е направено — ограничения и следващи стъпки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41248"/>
            <a:ext cx="11247120" cy="330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1280160"/>
            <a:ext cx="5468112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54480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 i="0">
                <a:solidFill>
                  <a:srgbClr val="0D3B66"/>
                </a:solidFill>
                <a:latin typeface="Segoe UI"/>
              </a:rPr>
              <a:t>Права по медицинска специалност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5528" y="2240280"/>
            <a:ext cx="4828032" cy="0"/>
          </a:xfrm>
          <a:prstGeom prst="line">
            <a:avLst/>
          </a:prstGeom>
          <a:ln w="25400">
            <a:solidFill>
              <a:srgbClr val="F4F8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95528" y="2514600"/>
            <a:ext cx="4828032" cy="1143000"/>
          </a:xfrm>
          <a:prstGeom prst="roundRect">
            <a:avLst>
              <a:gd name="adj" fmla="val 14000"/>
            </a:avLst>
          </a:prstGeom>
          <a:solidFill>
            <a:srgbClr val="FD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2606040"/>
            <a:ext cx="50800" cy="9601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514600"/>
            <a:ext cx="777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 spc="100">
                <a:solidFill>
                  <a:srgbClr val="B45A24"/>
                </a:solidFill>
                <a:latin typeface="Segoe UI"/>
              </a:rPr>
              <a:t>СЕГА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514600"/>
            <a:ext cx="3547872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0D3B66"/>
                </a:solidFill>
                <a:latin typeface="Segoe UI"/>
              </a:rPr>
              <a:t>Всеки лекар може да попълва данни от всякакви прегледи и изследвания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3977640"/>
            <a:ext cx="4828032" cy="1143000"/>
          </a:xfrm>
          <a:prstGeom prst="roundRect">
            <a:avLst>
              <a:gd name="adj" fmla="val 14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" y="4069080"/>
            <a:ext cx="50800" cy="9601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977640"/>
            <a:ext cx="777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 spc="100">
                <a:solidFill>
                  <a:srgbClr val="1A7F8E"/>
                </a:solidFill>
                <a:latin typeface="Segoe UI"/>
              </a:rPr>
              <a:t>ЦЕЛТА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977640"/>
            <a:ext cx="3547872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0D3B66"/>
                </a:solidFill>
                <a:latin typeface="Segoe UI"/>
              </a:rPr>
              <a:t>Всеки специалист въвежда само резултатите от изследванията в своята специалност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280160"/>
            <a:ext cx="5468112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1554480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 i="0">
                <a:solidFill>
                  <a:srgbClr val="0D3B66"/>
                </a:solidFill>
                <a:latin typeface="Segoe UI"/>
              </a:rPr>
              <a:t>Вход за пациенти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74536" y="2240280"/>
            <a:ext cx="4828032" cy="0"/>
          </a:xfrm>
          <a:prstGeom prst="line">
            <a:avLst/>
          </a:prstGeom>
          <a:ln w="25400">
            <a:solidFill>
              <a:srgbClr val="F4F8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74536" y="2514600"/>
            <a:ext cx="4828032" cy="1143000"/>
          </a:xfrm>
          <a:prstGeom prst="roundRect">
            <a:avLst>
              <a:gd name="adj" fmla="val 14000"/>
            </a:avLst>
          </a:prstGeom>
          <a:solidFill>
            <a:srgbClr val="FD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74536" y="2606040"/>
            <a:ext cx="50800" cy="96012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2514600"/>
            <a:ext cx="777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 spc="100">
                <a:solidFill>
                  <a:srgbClr val="B45A24"/>
                </a:solidFill>
                <a:latin typeface="Segoe UI"/>
              </a:rPr>
              <a:t>СЕГА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514600"/>
            <a:ext cx="3547872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0D3B66"/>
                </a:solidFill>
                <a:latin typeface="Segoe UI"/>
              </a:rPr>
              <a:t>Пациентски профил не е реализиран — системата се ползва само от персонала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74536" y="3977640"/>
            <a:ext cx="4828032" cy="1143000"/>
          </a:xfrm>
          <a:prstGeom prst="roundRect">
            <a:avLst>
              <a:gd name="adj" fmla="val 14000"/>
            </a:avLst>
          </a:prstGeom>
          <a:solidFill>
            <a:srgbClr val="EE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74536" y="4069080"/>
            <a:ext cx="50800" cy="9601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3977640"/>
            <a:ext cx="777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 spc="100">
                <a:solidFill>
                  <a:srgbClr val="1A7F8E"/>
                </a:solidFill>
                <a:latin typeface="Segoe UI"/>
              </a:rPr>
              <a:t>ЗАЩО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3977640"/>
            <a:ext cx="3547872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0D3B66"/>
                </a:solidFill>
                <a:latin typeface="Segoe UI"/>
              </a:rPr>
              <a:t>Необходимостта му изисква допълнителен анализ — съзнателно е отложен, а не пропуснат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9260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 i="0">
                <a:solidFill>
                  <a:srgbClr val="0D3B66"/>
                </a:solidFill>
                <a:latin typeface="Segoe UI"/>
              </a:rPr>
              <a:t>Пилотно изпитване в реална болнична среда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41248"/>
            <a:ext cx="11247120" cy="330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051560"/>
            <a:ext cx="5358384" cy="47548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051560"/>
            <a:ext cx="50800" cy="47548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08406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0D3B66"/>
                </a:solidFill>
                <a:latin typeface="Segoe UI"/>
              </a:rPr>
              <a:t>Оценката на мениджмънта и лекарите е положителна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965960"/>
            <a:ext cx="2121408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2240280"/>
            <a:ext cx="548640" cy="548640"/>
          </a:xfrm>
          <a:prstGeom prst="ellipse">
            <a:avLst/>
          </a:prstGeom>
          <a:solidFill>
            <a:srgbClr val="F4F8FB"/>
          </a:solidFill>
          <a:ln w="13970">
            <a:solidFill>
              <a:srgbClr val="1A7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7F8E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2608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D3B66"/>
                </a:solidFill>
                <a:latin typeface="Segoe UI"/>
              </a:rPr>
              <a:t>По-бърза работа с пациентските досиета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52344" y="1965960"/>
            <a:ext cx="2121408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38728" y="2240280"/>
            <a:ext cx="548640" cy="548640"/>
          </a:xfrm>
          <a:prstGeom prst="ellipse">
            <a:avLst/>
          </a:prstGeom>
          <a:solidFill>
            <a:srgbClr val="F4F8FB"/>
          </a:solidFill>
          <a:ln w="13970">
            <a:solidFill>
              <a:srgbClr val="1A7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7F8E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92608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D3B66"/>
                </a:solidFill>
                <a:latin typeface="Segoe UI"/>
              </a:rPr>
              <a:t>Без излишните стъпки от хартиения процес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965960"/>
            <a:ext cx="2121408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240280"/>
            <a:ext cx="548640" cy="548640"/>
          </a:xfrm>
          <a:prstGeom prst="ellipse">
            <a:avLst/>
          </a:prstGeom>
          <a:solidFill>
            <a:srgbClr val="F4F8FB"/>
          </a:solidFill>
          <a:ln w="13970">
            <a:solidFill>
              <a:srgbClr val="1A7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7F8E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92608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D3B66"/>
                </a:solidFill>
                <a:latin typeface="Segoe UI"/>
              </a:rPr>
              <a:t>Готовност за стандартизиран експорт на данни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6" y="1965960"/>
            <a:ext cx="2121408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2440" y="2240280"/>
            <a:ext cx="548640" cy="548640"/>
          </a:xfrm>
          <a:prstGeom prst="ellipse">
            <a:avLst/>
          </a:prstGeom>
          <a:solidFill>
            <a:srgbClr val="F4F8FB"/>
          </a:solidFill>
          <a:ln w="13970">
            <a:solidFill>
              <a:srgbClr val="1A7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7F8E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92608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D3B66"/>
                </a:solidFill>
                <a:latin typeface="Segoe UI"/>
              </a:rPr>
              <a:t>Сигурност на данните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2912" y="1965960"/>
            <a:ext cx="2121408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F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69296" y="2240280"/>
            <a:ext cx="548640" cy="548640"/>
          </a:xfrm>
          <a:prstGeom prst="ellipse">
            <a:avLst/>
          </a:prstGeom>
          <a:solidFill>
            <a:srgbClr val="F4F8FB"/>
          </a:solidFill>
          <a:ln w="13970">
            <a:solidFill>
              <a:srgbClr val="1A7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7F8E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92608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0D3B66"/>
                </a:solidFill>
                <a:latin typeface="Segoe UI"/>
              </a:rPr>
              <a:t>Ролеви достъп до функционалностите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4434840"/>
            <a:ext cx="11247120" cy="10515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D3B66"/>
              </a:gs>
              <a:gs pos="100000">
                <a:srgbClr val="1A7F8E"/>
              </a:gs>
            </a:gsLst>
            <a:lin scaled="0" ang="21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500" b="1" i="0">
                <a:solidFill>
                  <a:srgbClr val="2EC4B6"/>
                </a:solidFill>
                <a:latin typeface="Segoe UI"/>
              </a:rPr>
              <a:t>✔  </a:t>
            </a:r>
            <a:r>
              <a:rPr sz="1450" b="1" i="0">
                <a:solidFill>
                  <a:srgbClr val="2EC4B6"/>
                </a:solidFill>
                <a:latin typeface="Segoe UI"/>
              </a:rPr>
              <a:t>Заключение: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прототипът е напълно жизнеспособен и с потенциал за прерастване в реална производствена система.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7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5687568" y="777240"/>
            <a:ext cx="822960" cy="777240"/>
          </a:xfrm>
          <a:prstGeom prst="hear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011680"/>
            <a:ext cx="8714232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650" b="1" i="1">
                <a:solidFill>
                  <a:srgbClr val="FFFFFF"/>
                </a:solidFill>
                <a:latin typeface="Segoe UI"/>
              </a:rPr>
              <a:t>„Бъдещето принадлежи на технологиите, които остават невидими за потребителя, но му осигуряват безкомпромисна сигурност, светкавична скорост и свобода да се фокусира върху истинската си мисия — грижата за човешкия живот.“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 spc="500">
                <a:solidFill>
                  <a:srgbClr val="2EC4B6"/>
                </a:solidFill>
                <a:latin typeface="Segoe UI"/>
              </a:rPr>
              <a:t>БЛАГОДАРЯ ЗА ВНИМАНИЕТО</a:t>
            </a:r>
          </a:p>
        </p:txBody>
      </p:sp>
      <p:sp>
        <p:nvSpPr>
          <p:cNvPr id="5" name="Freeform 4"/>
          <p:cNvSpPr/>
          <p:nvPr/>
        </p:nvSpPr>
        <p:spPr>
          <a:xfrm>
            <a:off x="0" y="5017031"/>
            <a:ext cx="12191695" cy="566483"/>
          </a:xfrm>
          <a:custGeom>
            <a:avLst/>
            <a:gdLst/>
            <a:ahLst/>
            <a:cxnLst/>
            <a:rect l="l" t="t" r="r" b="b"/>
            <a:pathLst>
              <a:path w="990" h="46">
                <a:moveTo>
                  <a:pt x="0" y="30"/>
                </a:moveTo>
                <a:lnTo>
                  <a:pt x="28" y="30"/>
                </a:lnTo>
                <a:lnTo>
                  <a:pt x="34" y="22"/>
                </a:lnTo>
                <a:lnTo>
                  <a:pt x="40" y="30"/>
                </a:lnTo>
                <a:lnTo>
                  <a:pt x="60" y="30"/>
                </a:lnTo>
                <a:lnTo>
                  <a:pt x="68" y="42"/>
                </a:lnTo>
                <a:lnTo>
                  <a:pt x="76" y="0"/>
                </a:lnTo>
                <a:lnTo>
                  <a:pt x="84" y="46"/>
                </a:lnTo>
                <a:lnTo>
                  <a:pt x="90" y="30"/>
                </a:lnTo>
                <a:lnTo>
                  <a:pt x="120" y="30"/>
                </a:lnTo>
                <a:lnTo>
                  <a:pt x="125" y="24"/>
                </a:lnTo>
                <a:lnTo>
                  <a:pt x="130" y="30"/>
                </a:lnTo>
                <a:lnTo>
                  <a:pt x="165" y="30"/>
                </a:lnTo>
                <a:lnTo>
                  <a:pt x="193" y="30"/>
                </a:lnTo>
                <a:lnTo>
                  <a:pt x="199" y="22"/>
                </a:lnTo>
                <a:lnTo>
                  <a:pt x="205" y="30"/>
                </a:lnTo>
                <a:lnTo>
                  <a:pt x="225" y="30"/>
                </a:lnTo>
                <a:lnTo>
                  <a:pt x="233" y="42"/>
                </a:lnTo>
                <a:lnTo>
                  <a:pt x="241" y="0"/>
                </a:lnTo>
                <a:lnTo>
                  <a:pt x="249" y="46"/>
                </a:lnTo>
                <a:lnTo>
                  <a:pt x="255" y="30"/>
                </a:lnTo>
                <a:lnTo>
                  <a:pt x="285" y="30"/>
                </a:lnTo>
                <a:lnTo>
                  <a:pt x="290" y="24"/>
                </a:lnTo>
                <a:lnTo>
                  <a:pt x="295" y="30"/>
                </a:lnTo>
                <a:lnTo>
                  <a:pt x="330" y="30"/>
                </a:lnTo>
                <a:lnTo>
                  <a:pt x="358" y="30"/>
                </a:lnTo>
                <a:lnTo>
                  <a:pt x="364" y="22"/>
                </a:lnTo>
                <a:lnTo>
                  <a:pt x="370" y="30"/>
                </a:lnTo>
                <a:lnTo>
                  <a:pt x="390" y="30"/>
                </a:lnTo>
                <a:lnTo>
                  <a:pt x="398" y="42"/>
                </a:lnTo>
                <a:lnTo>
                  <a:pt x="406" y="0"/>
                </a:lnTo>
                <a:lnTo>
                  <a:pt x="414" y="46"/>
                </a:lnTo>
                <a:lnTo>
                  <a:pt x="420" y="30"/>
                </a:lnTo>
                <a:lnTo>
                  <a:pt x="450" y="30"/>
                </a:lnTo>
                <a:lnTo>
                  <a:pt x="455" y="24"/>
                </a:lnTo>
                <a:lnTo>
                  <a:pt x="460" y="30"/>
                </a:lnTo>
                <a:lnTo>
                  <a:pt x="495" y="30"/>
                </a:lnTo>
                <a:lnTo>
                  <a:pt x="523" y="30"/>
                </a:lnTo>
                <a:lnTo>
                  <a:pt x="529" y="22"/>
                </a:lnTo>
                <a:lnTo>
                  <a:pt x="535" y="30"/>
                </a:lnTo>
                <a:lnTo>
                  <a:pt x="555" y="30"/>
                </a:lnTo>
                <a:lnTo>
                  <a:pt x="563" y="42"/>
                </a:lnTo>
                <a:lnTo>
                  <a:pt x="571" y="0"/>
                </a:lnTo>
                <a:lnTo>
                  <a:pt x="579" y="46"/>
                </a:lnTo>
                <a:lnTo>
                  <a:pt x="585" y="30"/>
                </a:lnTo>
                <a:lnTo>
                  <a:pt x="615" y="30"/>
                </a:lnTo>
                <a:lnTo>
                  <a:pt x="620" y="24"/>
                </a:lnTo>
                <a:lnTo>
                  <a:pt x="625" y="30"/>
                </a:lnTo>
                <a:lnTo>
                  <a:pt x="660" y="30"/>
                </a:lnTo>
                <a:lnTo>
                  <a:pt x="688" y="30"/>
                </a:lnTo>
                <a:lnTo>
                  <a:pt x="694" y="22"/>
                </a:lnTo>
                <a:lnTo>
                  <a:pt x="700" y="30"/>
                </a:lnTo>
                <a:lnTo>
                  <a:pt x="720" y="30"/>
                </a:lnTo>
                <a:lnTo>
                  <a:pt x="728" y="42"/>
                </a:lnTo>
                <a:lnTo>
                  <a:pt x="736" y="0"/>
                </a:lnTo>
                <a:lnTo>
                  <a:pt x="744" y="46"/>
                </a:lnTo>
                <a:lnTo>
                  <a:pt x="750" y="30"/>
                </a:lnTo>
                <a:lnTo>
                  <a:pt x="780" y="30"/>
                </a:lnTo>
                <a:lnTo>
                  <a:pt x="785" y="24"/>
                </a:lnTo>
                <a:lnTo>
                  <a:pt x="790" y="30"/>
                </a:lnTo>
                <a:lnTo>
                  <a:pt x="825" y="30"/>
                </a:lnTo>
                <a:lnTo>
                  <a:pt x="853" y="30"/>
                </a:lnTo>
                <a:lnTo>
                  <a:pt x="859" y="22"/>
                </a:lnTo>
                <a:lnTo>
                  <a:pt x="865" y="30"/>
                </a:lnTo>
                <a:lnTo>
                  <a:pt x="885" y="30"/>
                </a:lnTo>
                <a:lnTo>
                  <a:pt x="893" y="42"/>
                </a:lnTo>
                <a:lnTo>
                  <a:pt x="901" y="0"/>
                </a:lnTo>
                <a:lnTo>
                  <a:pt x="909" y="46"/>
                </a:lnTo>
                <a:lnTo>
                  <a:pt x="915" y="30"/>
                </a:lnTo>
                <a:lnTo>
                  <a:pt x="945" y="30"/>
                </a:lnTo>
                <a:lnTo>
                  <a:pt x="950" y="24"/>
                </a:lnTo>
                <a:lnTo>
                  <a:pt x="955" y="30"/>
                </a:lnTo>
                <a:lnTo>
                  <a:pt x="990" y="30"/>
                </a:lnTo>
              </a:path>
            </a:pathLst>
          </a:custGeom>
          <a:noFill/>
          <a:ln w="3048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1722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AD3D4"/>
                </a:solidFill>
                <a:latin typeface="Segoe UI"/>
              </a:rPr>
              <a:t>Светослав Миленов Неделчев   ·   ФМИ, СУ „Св. Климент Охридски“   ·   2026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